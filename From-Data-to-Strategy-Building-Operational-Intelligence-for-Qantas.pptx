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1-3.svg" ContentType="image/svg+xml"/>
  <Override PartName="/ppt/media/image-2-3.svg" ContentType="image/svg+xml"/>
  <Override PartName="/ppt/media/image-9-3.svg" ContentType="image/svg+xml"/>
  <Override PartName="/ppt/media/image-9-5.svg" ContentType="image/svg+xml"/>
  <Override PartName="/ppt/media/image-9-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Crimson Pro Black"/>
      <p:regular r:id="rId201314"/>
    </p:embeddedFont>
    <p:embeddedFont>
      <p:font typeface="Crimson Pro"/>
      <p:regular r:id="rId201315"/>
    </p:embeddedFont>
    <p:embeddedFont>
      <p:font typeface="Crimson Pro Bold"/>
      <p:regular r:id="rId201316"/>
    </p:embeddedFont>
    <p:embeddedFont>
      <p:font typeface="Open Sans Bold"/>
      <p:regular r:id="rId201317"/>
    </p:embeddedFont>
    <p:embeddedFont>
      <p:font typeface="Open Sans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Relationship Id="rId201319" Type="http://schemas.openxmlformats.org/officeDocument/2006/relationships/font" Target="fonts/201319.fntdata"/><Relationship Id="rId201320" Type="http://schemas.openxmlformats.org/officeDocument/2006/relationships/font" Target="fonts/201320.fntdata"/><Relationship Id="rId201321" Type="http://schemas.openxmlformats.org/officeDocument/2006/relationships/font" Target="fonts/201321.fntdata"/><Relationship Id="rId201322" Type="http://schemas.openxmlformats.org/officeDocument/2006/relationships/font" Target="fonts/201322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DE9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A"/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2.png"/><Relationship Id="rId5" Type="http://schemas.openxmlformats.org/officeDocument/2006/relationships/image" Target="../media/image-11-3.svg"/><Relationship Id="rId6" Type="http://schemas.openxmlformats.org/officeDocument/2006/relationships/image" Target="../media/image-11-2.png"/><Relationship Id="rId7" Type="http://schemas.openxmlformats.org/officeDocument/2006/relationships/image" Target="../media/image-11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09887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From Data to Strategy: Building Operational Intelligence for Qantas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15428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portfolio of analytical thinking, strategic design, and data-driven decision making.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3936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The Business Problem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13483"/>
            <a:ext cx="6296860" cy="144234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77479" y="1727895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Reliability = Brand Equity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977479" y="2136577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Airline on-time performance directly drives customer satisfaction, repeat business, and competitive reputation.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144838"/>
            <a:ext cx="6296860" cy="144234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77479" y="3359249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Disruptions Cascade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977479" y="3767931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single delay triggers crew conflicts, resource misallocation, and system-wide ripple effects across the network.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776192"/>
            <a:ext cx="6296860" cy="144234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7479" y="4990604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Post-COVID Imperative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977479" y="5399286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Recovery demands data-driven insights to close performance gaps and compete in a reshaped aviation market.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9315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Strategic Approach: Scope Evolution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81188"/>
            <a:ext cx="6910810" cy="39161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18163" y="1701602"/>
            <a:ext cx="351830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From Single-Airline to Market Intelligence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8018163" y="2436217"/>
            <a:ext cx="3518308" cy="112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analysis evolved beyond exploratory single-airline review into competitive market intelligence — a deliberate design choice to deliver executive-grade context.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018163" y="3716635"/>
            <a:ext cx="3518308" cy="2371923"/>
          </a:xfrm>
          <a:prstGeom prst="rect">
            <a:avLst/>
          </a:prstGeom>
          <a:noFill/>
          <a:ln/>
        </p:spPr>
        <p:txBody>
          <a:bodyPr wrap="square" lIns="0" tIns="72063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Shifted from exploratory to competitive benchmarking scope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Designed four integrated visualizations as a cohesive executive narrative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Blended 22 years of historical context with 2025 operational data for trend validation and current-state insight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363"/>
            <a:ext cx="1086874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Insight 1: Long-Term Reliability Trends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09960"/>
            <a:ext cx="10868745" cy="47712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05207" y="4582338"/>
            <a:ext cx="1905200" cy="294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Historical Baseline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505207" y="4960508"/>
            <a:ext cx="1905200" cy="39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2004–2016 structural patterns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854423" y="4214635"/>
            <a:ext cx="1905200" cy="588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Competitive Benchmarking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854423" y="4887230"/>
            <a:ext cx="1905200" cy="39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2023–2026 Qantas vs competitors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195516" y="1610295"/>
            <a:ext cx="1905200" cy="294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Disruption Era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195516" y="1988466"/>
            <a:ext cx="1905200" cy="39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2017–2022 COVID impact and recovery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61475" y="5981700"/>
            <a:ext cx="10868745" cy="350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22-year lens separates structural operational challenges from temporary disruptions — distinguishing noise from signal and revealing where Qantas stands relative to its domestic competitors.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Insight 2: Route-Level Impact Analysis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61475" y="3198713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Where Disruption Hurts Most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3401219"/>
            <a:ext cx="531551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top 10 high-volume domestic routes carry a disproportionate share of total passenger load. A single disruption on these corridors cascades to thousands of passengers and triggers system-wide knock-on effects.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61475" y="3682504"/>
            <a:ext cx="5315512" cy="389334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rmAutofit/>
          </a:bodyPr>
          <a:lstStyle/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Network criticality mapped by volume and connectivity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Disruption consequences quantified at the route level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Enables precise resource allocation and operational prioritization</a:t>
            </a:r>
            <a:endParaRPr lang="en-US" sz="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1058" y="961132"/>
            <a:ext cx="5315512" cy="53156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9660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Insight 3: Operational Risk Correlation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061369"/>
            <a:ext cx="3053877" cy="2606774"/>
          </a:xfrm>
          <a:prstGeom prst="roundRect">
            <a:avLst>
              <a:gd name="adj" fmla="val 3045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856832" y="2256730"/>
            <a:ext cx="26631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Delay–Cancellation Interaction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6832" y="2960688"/>
            <a:ext cx="26631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Analyzed the relationship between delay frequency and cancellation rates to surface hidden disruption patterns.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061369"/>
            <a:ext cx="3053976" cy="2606774"/>
          </a:xfrm>
          <a:prstGeom prst="roundRect">
            <a:avLst>
              <a:gd name="adj" fmla="val 3045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4099715" y="2256730"/>
            <a:ext cx="266326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Pressure Concentration Points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99715" y="2960688"/>
            <a:ext cx="266326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Pinpoints exactly where operational stress accumulates and where consequences escalate most severely.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857155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56832" y="5052516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Recovery Strategy Input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6832" y="5461198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Findings directly inform risk mitigation protocols and service recovery prioritization frameworks.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6419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Insight 4: Seasonal Operational Dynamics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94148"/>
            <a:ext cx="5211037" cy="37509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25533" y="1571923"/>
            <a:ext cx="5211037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Predict, Prepare, Perform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325533" y="2035274"/>
            <a:ext cx="5211037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Monthly delay patterns expose when operational pressure peaks — turning seasonal history into a forward-looking planning tool.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325533" y="3060204"/>
            <a:ext cx="5211037" cy="1854597"/>
          </a:xfrm>
          <a:prstGeom prst="rect">
            <a:avLst/>
          </a:prstGeom>
          <a:noFill/>
          <a:ln/>
        </p:spPr>
        <p:txBody>
          <a:bodyPr wrap="square" lIns="0" tIns="73245" rIns="0" bIns="0" rtlCol="0" anchor="t">
            <a:normAutofit/>
          </a:bodyPr>
          <a:lstStyle/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Peak pressure months identified for proactive workforce scheduling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Resource allocation aligned to high-risk seasonal windows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Capacity planning grounded in demonstrated operational cycles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325533" y="5114330"/>
            <a:ext cx="5211037" cy="987623"/>
          </a:xfrm>
          <a:prstGeom prst="roundRect">
            <a:avLst>
              <a:gd name="adj" fmla="val 7787"/>
            </a:avLst>
          </a:prstGeom>
          <a:solidFill>
            <a:srgbClr val="EBE2E0"/>
          </a:solidFill>
          <a:ln/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587" y="5393035"/>
            <a:ext cx="228793" cy="1830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20434" y="5319713"/>
            <a:ext cx="4433082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Illustrative index based on seasonal delay pattern methodology — not sourced BITRE values.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0763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Design Philosophy: Clarity Over Complexity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87127"/>
            <a:ext cx="6981452" cy="39562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86999" y="2748459"/>
            <a:ext cx="364947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Every Design Choice Is a Strategic Choice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7886999" y="2950964"/>
            <a:ext cx="364947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Four targeted visualizations eliminate exploratory clutter. Only decision-critical insights made the cut.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61475" y="5056287"/>
            <a:ext cx="194861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661475" y="5209084"/>
            <a:ext cx="5409271" cy="12700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61475" y="5283200"/>
            <a:ext cx="5409271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Macro Trends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61475" y="5465564"/>
            <a:ext cx="5409271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Long-term competitive benchmarking establishes the strategic backdrop.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120949" y="5056287"/>
            <a:ext cx="194861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120949" y="5209084"/>
            <a:ext cx="5409271" cy="12700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120949" y="5283200"/>
            <a:ext cx="5409271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Route Impact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120949" y="5465564"/>
            <a:ext cx="5409271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Network-level risk surfaces where disruption consequences are greatest.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61475" y="5706864"/>
            <a:ext cx="194861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661475" y="5859661"/>
            <a:ext cx="5409271" cy="12700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61475" y="5933777"/>
            <a:ext cx="5409271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Risk Metrics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61475" y="6116141"/>
            <a:ext cx="5409271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Correlation analysis reveals operational pressure concentration points.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120949" y="5706864"/>
            <a:ext cx="194861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120949" y="5859661"/>
            <a:ext cx="5409271" cy="12700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120949" y="5933777"/>
            <a:ext cx="5409271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Seasonal Outlook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120949" y="6116141"/>
            <a:ext cx="5409271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Monthly patterns enable predictive, proactive planning decisions.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31118"/>
            <a:ext cx="6296860" cy="1070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Business Impact &amp; Strategic Recommendations</a:t>
            </a:r>
            <a:endParaRPr lang="en-US" sz="3350" dirty="0"/>
          </a:p>
        </p:txBody>
      </p:sp>
      <p:sp>
        <p:nvSpPr>
          <p:cNvPr id="4" name="Shape 1"/>
          <p:cNvSpPr/>
          <p:nvPr/>
        </p:nvSpPr>
        <p:spPr>
          <a:xfrm>
            <a:off x="661475" y="1834455"/>
            <a:ext cx="3070843" cy="2429867"/>
          </a:xfrm>
          <a:prstGeom prst="roundRect">
            <a:avLst>
              <a:gd name="adj" fmla="val 2961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839072" y="2012057"/>
            <a:ext cx="513841" cy="513854"/>
          </a:xfrm>
          <a:prstGeom prst="ellipse">
            <a:avLst/>
          </a:prstGeom>
          <a:solidFill>
            <a:srgbClr val="835E54"/>
          </a:solidFill>
          <a:ln/>
        </p:spPr>
        <p:txBody>
          <a:bodyPr/>
          <a:p/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0356" y="2153345"/>
            <a:ext cx="231174" cy="2311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9072" y="2681089"/>
            <a:ext cx="271564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Long-Term Positioning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839072" y="3041749"/>
            <a:ext cx="2715648" cy="1044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Trend analysis informs competitive strategy and reveals where Qantas must close structural performance gaps.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887492" y="1834455"/>
            <a:ext cx="3070843" cy="2429867"/>
          </a:xfrm>
          <a:prstGeom prst="roundRect">
            <a:avLst>
              <a:gd name="adj" fmla="val 2961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4065089" y="2012057"/>
            <a:ext cx="513841" cy="513854"/>
          </a:xfrm>
          <a:prstGeom prst="ellipse">
            <a:avLst/>
          </a:prstGeom>
          <a:solidFill>
            <a:srgbClr val="835E54"/>
          </a:solidFill>
          <a:ln/>
        </p:spPr>
        <p:txBody>
          <a:bodyPr/>
          <a:p/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06373" y="2153345"/>
            <a:ext cx="231174" cy="2311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065089" y="2681089"/>
            <a:ext cx="271564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Network Investment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4065089" y="3041749"/>
            <a:ext cx="2715648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Route-level insights direct capital and resource priorities toward highest-impact corridors.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61475" y="4419501"/>
            <a:ext cx="6296860" cy="1907381"/>
          </a:xfrm>
          <a:prstGeom prst="roundRect">
            <a:avLst>
              <a:gd name="adj" fmla="val 3772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839072" y="4597102"/>
            <a:ext cx="513841" cy="513854"/>
          </a:xfrm>
          <a:prstGeom prst="ellipse">
            <a:avLst/>
          </a:prstGeom>
          <a:solidFill>
            <a:srgbClr val="835E54"/>
          </a:solidFill>
          <a:ln/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0356" y="4738390"/>
            <a:ext cx="231174" cy="2311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39072" y="5266134"/>
            <a:ext cx="5941665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Proactive Operations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839072" y="5626795"/>
            <a:ext cx="5941665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Seasonal forecasting enables workforce and capacity planning before pressure peaks — not after.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3202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Evolution Roadmap: From Retrospective to Predictive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59098"/>
            <a:ext cx="10868745" cy="42878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52247" y="2844100"/>
            <a:ext cx="2162133" cy="58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Phase 1: Current State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352247" y="3516126"/>
            <a:ext cx="2162133" cy="667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Month-route aggregation and historical BITRE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040286" y="3044793"/>
            <a:ext cx="2162133" cy="58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Phase 2: Enhanced Analytics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040286" y="3716820"/>
            <a:ext cx="2162133" cy="444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 real-time ops, weather; forecasting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59704" y="2844100"/>
            <a:ext cx="2162133" cy="58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Phase 3: Predictive Intelligence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7759704" y="3516126"/>
            <a:ext cx="2162133" cy="667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 system integration, monitoring, rapid response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61475" y="5815608"/>
            <a:ext cx="10868745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dashboard is designed to grow. Each phase increases analytical maturity — shifting Qantas operations from rear-view reporting to forward-looking intelligence that enables real-time decisions.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0841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Ethical Data Practice &amp; Governance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262856"/>
            <a:ext cx="6943551" cy="39347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7244" y="2873177"/>
            <a:ext cx="3579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Trust Is Built Into the Methodology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957244" y="3200896"/>
            <a:ext cx="357922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Rigorous data governance is not a footnote — it is central to the analytical design.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556" y="5441057"/>
            <a:ext cx="212620" cy="2126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22037" y="5436691"/>
            <a:ext cx="3073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Public Data Foundation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122037" y="5721846"/>
            <a:ext cx="307372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entirely on publicly available BITRE data — zero privacy or compliance exposure.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1688" y="5441057"/>
            <a:ext cx="212620" cy="21262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89169" y="5436691"/>
            <a:ext cx="307381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Contextualized Metrics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789169" y="5721846"/>
            <a:ext cx="3073819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indicators are contextualized to prevent misinterpretation; single-metric conclusions are explicitly avoided.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48920" y="5441057"/>
            <a:ext cx="212620" cy="21262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456401" y="5436691"/>
            <a:ext cx="307381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Full Transparency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8456401" y="5721846"/>
            <a:ext cx="3073819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Complete source documentation enables stakeholder verification and builds lasting analytical credibility.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2026-08-25T02:06:11Z</dcterms:created>
  <dcterms:modified xsi:type="dcterms:W3CDTF">2026-08-25T02:06:11Z</dcterms:modified>
</cp:coreProperties>
</file>